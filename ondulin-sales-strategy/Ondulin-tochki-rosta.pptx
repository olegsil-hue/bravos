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читать титул. После приветствия: «Принёс одну рамку — где рост, если ниша уже наша. Хочу сверить с вашими цифрами».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цифра — один вывод — вопрос: «Как вы считаете рынок, к которому себя меряете? План от 5,48 или от 6,34?» Не спорить, если поправят.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Порядок на встрече: сначала 01–02 (дистрибьюция), потом микс и плёнка, DIY, e-com последним и с ограничением. Не открывать с маркетплейсов.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Связать с кейсом Связной 26%: JBP — тот же инструмент, клиент — дистрибьютор. Евросеть: вы знаете, чего партнёр хочет, потому что сидели с той стороны. Эффект 01: 80–120 млн; покрытие: 50–100.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Grand Line уже говорит рынку: кровля = система. Мы должны говорить то же про битум. УТП: тихий, лёгкий, монтаж в одиночку, без коррозии.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УТП из продуктового брифа: бесшумность, нет коррозии, лёгкий, монтаж без специнструмента. Это аргумент vs металл на хозблоке, не vs Shinglas на коттедже.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Первым предложением по e-com — ограничение, не GMV. «Четыре миллиарда в LG научили КАК масштабировать. Эта роль требует ещё КОГДА НЕ НАДО».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обещать 6,3 до стока топ-20. Сценарий B — ваша ставка как кандидата. C — если они сами настаивают на «шесть плюс», запросить рычаги.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Лидер = процессы, люди, результат. 20–30% командировок. DIY/e-com в прямом подчинении стыкуются правилом, не войной с РСМ.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Задавать пакетами по 2–3, не допросом. Условия и пакет — во второй половине встречи.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можно сесть в диалог: «Что из этого уже есть, что сознательно не делали?»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Финал: интересно. На очной — топ-партнёры и один филиал. Не торговать пакет на этой странице.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  <a:ea typeface="Calibri"/>
              </a:rPr>
              <a:t>К ДИАЛОГУ С ГД И 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Calibri"/>
              </a:rPr>
              <a:t>Ондулин: семь точек роста
выручки и доли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6D3D1"/>
                </a:solidFill>
                <a:latin typeface="Calibri"/>
                <a:ea typeface="Calibri"/>
              </a:rPr>
              <a:t>Как быть выше падающего рынка, не сливая маржу в канал.
Гипотезы по открытым данным — на встрече сверить, не защищать.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8A29E"/>
                </a:solidFill>
                <a:latin typeface="Calibri"/>
                <a:ea typeface="Calibri"/>
              </a:rPr>
              <a:t>Олег Сильченко  ·  директор по продажам  ·  сентябрь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ИСХОДНАЯ ТОЧКА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C1917"/>
                </a:solidFill>
                <a:latin typeface="Calibri"/>
                <a:ea typeface="Calibri"/>
              </a:rPr>
              <a:t>Компания уже ниже рынка — не «падает вместе с ним»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89888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B42318"/>
                </a:solidFill>
                <a:latin typeface="Calibri"/>
                <a:ea typeface="Calibri"/>
              </a:rPr>
              <a:t>5,48 млрд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выручка торговой,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146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−14%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389888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B42318"/>
                </a:solidFill>
                <a:latin typeface="Calibri"/>
                <a:ea typeface="Calibri"/>
              </a:rPr>
              <a:t>4,02 млрд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9202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завод Ондулин-С.М.,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5146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−16%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389888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C1917"/>
                </a:solidFill>
                <a:latin typeface="Calibri"/>
                <a:ea typeface="Calibri"/>
              </a:rPr>
              <a:t>−5…−8,5%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9202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рынок стройки / кровли,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5146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7534E"/>
                </a:solidFill>
                <a:latin typeface="Calibri"/>
                <a:ea typeface="Calibri"/>
              </a:rPr>
              <a:t>бенчмарк вакансии −5%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801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389888"/>
            <a:ext cx="24231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C1917"/>
                </a:solidFill>
                <a:latin typeface="Calibri"/>
                <a:ea typeface="Calibri"/>
              </a:rPr>
              <a:t>6,34 млрд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9202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пик 2024, «оборот 6+»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5146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7534E"/>
                </a:solidFill>
                <a:latin typeface="Calibri"/>
                <a:ea typeface="Calibri"/>
              </a:rPr>
              <a:t>план, не факт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0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1917"/>
                </a:solidFill>
                <a:latin typeface="Calibri"/>
                <a:ea typeface="Calibri"/>
              </a:rPr>
              <a:t>Скатная кровля 2024: 261 млн м². ИЖС даёт ~89% спроса.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11155680" cy="384048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03320"/>
            <a:ext cx="7474305" cy="384048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703320"/>
            <a:ext cx="7474305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Металл 67%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7225" y="3703320"/>
            <a:ext cx="1896465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7225" y="3703320"/>
            <a:ext cx="1896465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Гибкая 17%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3690" y="3703320"/>
            <a:ext cx="892454" cy="384048"/>
          </a:xfrm>
          <a:prstGeom prst="rect">
            <a:avLst/>
          </a:prstGeom>
          <a:solidFill>
            <a:srgbClr val="A162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3690" y="3703320"/>
            <a:ext cx="89245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БВЛ 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66144" y="3703320"/>
            <a:ext cx="892454" cy="384048"/>
          </a:xfrm>
          <a:prstGeom prst="rect">
            <a:avLst/>
          </a:prstGeom>
          <a:solidFill>
            <a:srgbClr val="787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66144" y="3703320"/>
            <a:ext cx="892454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</a:rPr>
              <a:t>Шифер 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97680"/>
            <a:ext cx="11155680" cy="1874519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434840"/>
            <a:ext cx="10698480" cy="1600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C1917"/>
                </a:solidFill>
                <a:latin typeface="Calibri"/>
                <a:ea typeface="Calibri"/>
              </a:rPr>
              <a:t>Вывод для коммерции. В еврошифере ~99% производства уже ваши — доля внутри ниши не растёт. Конкурент не «другой ондулин», а металл, гибкая черепица и ремонт шифера. Задача года: быть выше рынка на 5–8 п.п. и закрыть разрыв 2025-го без отгрузки в полный склад.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КАРТА РОСТА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Семь точек. Не новый продукт — управление каналом и чеком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3441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618488"/>
            <a:ext cx="2450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Sell-out вместо sell-in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11680"/>
            <a:ext cx="245059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Сток топ-20. Не грузить полный склад после всплеска 2024.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3441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1618488"/>
            <a:ext cx="2450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JBP с топ-20 дистрибьюторов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011680"/>
            <a:ext cx="245059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20 имён ≈ 60–70% денег. Взаимная выгода, не скидка.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9944" y="13441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1618488"/>
            <a:ext cx="2450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Микс и система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1680"/>
            <a:ext cx="245059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Смарт → Черепица / Ондувилла + конёк, гвозди, лента.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344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3441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618488"/>
            <a:ext cx="2450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ONDUTISS в каждый заказ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011680"/>
            <a:ext cx="245059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Единственный фронт, где долю можно отнять.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346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29443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" y="3218688"/>
            <a:ext cx="2450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Замена шифера и хозблок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" y="3611880"/>
            <a:ext cx="245059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Доля скатной кровли 8% → 8,3–8,6%. Донор рынка.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283464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9584" y="29443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9584" y="3218688"/>
            <a:ext cx="245059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DIY как доля в сети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9584" y="3611880"/>
            <a:ext cx="245059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Лемана ПРО, Петрович, Максидом. Полка комплекта.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34840"/>
            <a:ext cx="11155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544568"/>
            <a:ext cx="5486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818888"/>
            <a:ext cx="10863072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C1917"/>
                </a:solidFill>
                <a:latin typeface="Calibri"/>
                <a:ea typeface="Calibri"/>
              </a:rPr>
              <a:t>E-com в правилах канала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5212080"/>
            <a:ext cx="10863072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Сначала MAP, потом GMV. Лид дилеру, не обход.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ТОЧКИ 01–02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C1917"/>
                </a:solidFill>
                <a:latin typeface="Calibri"/>
                <a:ea typeface="Calibri"/>
              </a:rPr>
              <a:t>Дистрибьюторы: главный P&amp;L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7534E"/>
                </a:solidFill>
                <a:latin typeface="Calibri"/>
                <a:ea typeface="Calibri"/>
              </a:rPr>
              <a:t>~100 ключевых, пул ~500. Лечить минус рынка скидкой и вагоном — повторить 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109728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ABC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1907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Топ-20 вести лично + РСМ. Остальным — стандарт. Спящих из 500 не раздувать.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14600"/>
            <a:ext cx="109728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24328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Sell-out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67919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Дни запаса листа / доборов / плёнки. Где сток выше нормы — помогаем продать, не грузим.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7472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474720"/>
            <a:ext cx="109728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84448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JBP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63931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Квартал: объём, микс, attach, покрытие, обучение продавцов, коридор цены.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34840"/>
            <a:ext cx="11155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109728" cy="86868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44568"/>
            <a:ext cx="20116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Заработок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599432"/>
            <a:ext cx="841248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MAP и территория, приоритет в сезон, комплект на складе. Скидка — последний рычаг.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ТОЧКА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Микс и система: деньги с м², не ещё один лист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7432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630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Ондулин Смарт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48840"/>
            <a:ext cx="24231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Эконом / замена / хозблок
490–510 ₽/м², Smart Lock
Не единственный ответ на металл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34440"/>
            <a:ext cx="27432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4630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Черепица Ондулин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148840"/>
            <a:ext cx="24231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Средний сегмент, DIY-формат
Гарантия 20 лет
Ответ «выглядит как черепица»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34440"/>
            <a:ext cx="27432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4630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Ондувилла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148840"/>
            <a:ext cx="24231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Премиум внутри линейки
Модуль, выше чек
Не конкурировать скидкой Смарта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234440"/>
            <a:ext cx="27432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1463040"/>
            <a:ext cx="2423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Доборы и гвозди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148840"/>
            <a:ext cx="242316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Конёк, ендова, щипец, лента
Маржа партнёра и герметичность
Attach +2–3 п.п. к счёту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1115568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6984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C1917"/>
                </a:solidFill>
                <a:latin typeface="Calibri"/>
                <a:ea typeface="Calibri"/>
              </a:rPr>
              <a:t>Как делать. Цель микса — в JBP и в KPI РСМ, не в буклете. Не отгружать лист, если у партнёра нет конька и гвоздей. В DIY — SKU-линейка Onduline DIY (уже есть узкий лист) + 3–4 добора на полке. Позиционирование «дёшево и выцветает» лечится черепицей и комплектом, не ещё одной скидкой на Смарт.
Эффект: микс 50–80 млн  ·  attach доборов 80–120 млн.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ТОЧКИ 04–05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Где берётся доля: плёнка и чужой м²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04  ONDUTISS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120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Единственный рынок, где вы не монополист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12064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Изоспан, ТехноНИКОЛЬ, Megaflex — здесь долю отнимают.
1. Attach: каждый заказ кровли видит мембрану и ленту.
2. Белые пятна: каркас, фасад, металл конкурента.
3. SMART/PRO AM — профессиональный ярус, не «дешёвая плёнка».
Эффект: 80–150 млн. KPI — доля плёнки в кровельном счёте, не абстрактный % рынка.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40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05  ШИФЕР И ХОЗБЛОК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Доля скатной кровли 8% → 8,3–8,6%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50292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Шифер сжимается ~9,5% CAGR, это 8% рынка — донор. СКАИ, BF Tech.
Комплект «лист + гвозди + лента», без усиления стропил. Регионы с шиферным фондом. Контент и обучение дилера.
Хозблок / дача / гараж: металл шумный, Ондулин лёгкий и DIY. Отдельная витрина, не «тот же коттедж».
ИЖС 2025: ввод +2%, новые коттеджи −40%. Ремонт устойчивее новостроя.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ТОЧКИ 06–07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DIY и e-com: витрина, не война с сотней партнёров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5321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06  DIY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1206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Лемана ПРО · Петрович · Максидом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120640" cy="3108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Цель — доля категории на полке, не «нас возят».
Матрица: Смарт + DIY-черепица + доборы + 1–2 плёнки.
Обучение зала, промокалендарь, наличие комплекта.
Цена сети не самая дешёвая в городе.
Пилот доли внутри одной сети — как 26% в Связном.
Партнёры по смыслу: Grand Line, ТСТН, «Твой Мир» и региональные — отдельные JBP, не смешивать с DIY.
Эффект: 40–80 млн + доступность бренда для частника.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40680" cy="4572000"/>
          </a:xfrm>
          <a:prstGeom prst="rect">
            <a:avLst/>
          </a:prstGeom>
          <a:solidFill>
            <a:srgbClr val="F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173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07  E-COM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Сначала правила, потом объём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50292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Онлайн DIY растёт (2,1→2,5 трлн), офлайн падает. Без MAP e-com съест топ-100 быстрее, чем даст 100 млн.
Аудит серых карточек Ozon/WB.
Официальная матрица, цена ≥ MAP.
Сайт: комплект «крыша 50 м²» и лид дилеру, не обход сети.
Стык с РСМ: лид и цена, не конкуренция за Орёл.
Эффект года 1: 40–80 млн в рамке. Больше — решение ГД пожертвовать частью дистрибьюции.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МОСТ К ВЫРУЧКЕ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Три сценария 12 месяцев. База — факт 2025: 5,48 млрд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11155680" cy="384048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2926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Сценарий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143000"/>
            <a:ext cx="23774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Выручка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228600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К рынку −5%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143000"/>
            <a:ext cx="292608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  <a:ea typeface="Calibri"/>
              </a:rPr>
              <a:t>Смысл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27048"/>
            <a:ext cx="1115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27048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  <a:ea typeface="Calibri"/>
              </a:rPr>
              <a:t>A  Дисциплина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27048"/>
            <a:ext cx="23774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5,37 (−2%)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527048"/>
            <a:ext cx="22860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  <a:ea typeface="Calibri"/>
              </a:rPr>
              <a:t>+3 п.п.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527048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Перестали проигрывать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02536"/>
            <a:ext cx="11155680" cy="475488"/>
          </a:xfrm>
          <a:prstGeom prst="rect">
            <a:avLst/>
          </a:prstGeom>
          <a:solidFill>
            <a:srgbClr val="FEF3F2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002536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  <a:ea typeface="Calibri"/>
              </a:rPr>
              <a:t>B  Выше рынка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002536"/>
            <a:ext cx="23774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5,48–5,64 (0…+3%)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02536"/>
            <a:ext cx="22860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  <a:ea typeface="Calibri"/>
              </a:rPr>
              <a:t>+5…8 п.п.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02536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Команда + партнёры + микс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78024"/>
            <a:ext cx="11155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478024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1C1917"/>
                </a:solidFill>
                <a:latin typeface="Calibri"/>
                <a:ea typeface="Calibri"/>
              </a:rPr>
              <a:t>C  План «6+»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478024"/>
            <a:ext cx="237744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6,0–6,15 (+10…12%)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478024"/>
            <a:ext cx="228600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B42318"/>
                </a:solidFill>
                <a:latin typeface="Calibri"/>
                <a:ea typeface="Calibri"/>
              </a:rPr>
              <a:t>+15…17 п.п.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478024"/>
            <a:ext cx="2926080" cy="4754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  <a:ea typeface="Calibri"/>
              </a:rPr>
              <a:t>Риск отгрузки в сток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108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Мост к сценарию B, млн ₽ (порядок величин, не бюджет)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Сток / sell-out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+80…120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2199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Микс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2199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+50…80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Доборы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6791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+80…120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1383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ONDUTISS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+80…150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8660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5975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Покрытие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975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+50…100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67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DIY / e-com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567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+40…80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78440" y="3566160"/>
            <a:ext cx="1554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51592" y="365760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7534E"/>
                </a:solidFill>
                <a:latin typeface="Calibri"/>
                <a:ea typeface="Calibri"/>
              </a:rPr>
              <a:t>Минус рынка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1592" y="4160520"/>
            <a:ext cx="1408176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B42318"/>
                </a:solidFill>
                <a:latin typeface="Calibri"/>
                <a:ea typeface="Calibri"/>
              </a:rPr>
              <a:t>−270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Без ответа на вопрос «план от 5,48 или от 6,34?» обещать C нельзя. Если база 2024 — это обгон рынка на ~15 п.п. Так можно только при пустом канале и рычагах микса/плёнки/покрытия.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КАК ЭТО ДЕЛАЕТСЯ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C1917"/>
                </a:solidFill>
                <a:latin typeface="Calibri"/>
                <a:ea typeface="Calibri"/>
              </a:rPr>
              <a:t>План, команда, 90 / 180 / 365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3657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576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1732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3 месяца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2880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Перенять, не ломать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86000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Все РО + завод. Ride-along с 7 РСМ. ABC-100. Сток топ-20. Сплит продукт/канал. Черновик правил каналов. Пилот JBP на 5–7. Людей не трогать.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88720"/>
            <a:ext cx="3657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6576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41732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6 месяцев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82880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Система и люди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286000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Оценка 7 РСМ, планы развития. KPI: не только отгрузка — микс, attach, покрытие, цена. JBP на топ-20. Омниканальная мотивация DIY/e-com и поля.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188720"/>
            <a:ext cx="3657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188720"/>
            <a:ext cx="36576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1732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12 месяцев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82880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C1917"/>
                </a:solidFill>
                <a:latin typeface="Calibri"/>
                <a:ea typeface="Calibri"/>
              </a:rPr>
              <a:t>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286000"/>
            <a:ext cx="32461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7534E"/>
                </a:solidFill>
                <a:latin typeface="Calibri"/>
                <a:ea typeface="Calibri"/>
              </a:rPr>
              <a:t>Сценарий B как база. Сам в полях в сезон. Ревью с топ-партнёрами. Честный прогноз ГД за квартал до конца года. Без сюрприза в декабре.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55680" cy="155448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  <a:ea typeface="Calibri"/>
              </a:rPr>
              <a:t>Система, которая остаётся без ручного режима: план продукт × канал × регион × месяц  ·  правила каналов на одной странице  ·  JBP топ-20  ·  стандарт визита и стока системы  ·  недельный ритм с заводом и финансами  ·  премия, которая не платит за завал склада партнёра.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ЧТО СВЕРИТЬ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Восемь вопросов, без которых цифры — пожелание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9844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35331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План 2026 от какой базы — 5,48 или 6,34?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18872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29844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5331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Победа года лично для вас: объём, маржа, доля, команда, завод?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8600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39572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45059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Где утечка 2025: сток, цена, микс, DIY-конфликт, поле?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28600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39572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45059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Сколько партнёров дают 50%? Кто незаменим? Grand Line / ТСТН / «Твой Мир» — какой вес?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38328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49300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54787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Сток топ-20 в днях. Есть ли sell-out или живём по отгрузке?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38328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49300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54787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Правила маркетплейса уже есть? Кто продаёт на Ozon/WB?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8056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459028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64515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DIY и РСМ в одном городе — кто решает спор по цене?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480560"/>
            <a:ext cx="5577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590288"/>
            <a:ext cx="45720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B42318"/>
                </a:solidFill>
                <a:latin typeface="Calibri"/>
                <a:ea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645152"/>
            <a:ext cx="4709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  <a:ea typeface="Calibri"/>
              </a:rPr>
              <a:t>Формула мотивации поля. Когда меняли. Что нельзя трогать 90 дней?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42318"/>
                </a:solidFill>
                <a:latin typeface="Calibri"/>
                <a:ea typeface="Calibri"/>
              </a:rPr>
              <a:t>КАК Я ЭТО ВЕДУ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C1917"/>
                </a:solidFill>
                <a:latin typeface="Calibri"/>
                <a:ea typeface="Calibri"/>
              </a:rPr>
              <a:t>Четыре правила, чтобы рост не съел маржу и партнёров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55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09728" cy="98755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9844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Доля — в скатной кровле, не в БВЛ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6420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99% еврошифера не KPI. KPI: доля 8%+, деньги с м², доля плёнки в счёте.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11155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109728" cy="98755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9572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Партнёр зарабатывает — тогда остаётся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Защита цены и территории важнее акции. Скидка — последний рычаг.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11155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109728" cy="98755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9300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E-com не обгоняет правила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MAP и лид дилеру. GMV без рамки — минус доверия топ-100.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11556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109728" cy="987552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590288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C1917"/>
                </a:solidFill>
                <a:latin typeface="Calibri"/>
                <a:ea typeface="Calibri"/>
              </a:rPr>
              <a:t>План живёт на территории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  <a:ea typeface="Calibri"/>
              </a:rPr>
              <a:t>Не раскладывается до РСМ и топ-дистрибьютора — это пожелание. 90 дней сезон не ломаем.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Ондулин  ·  точки роста выручки и доли  ·  гипотезы по открытым данным, к сверке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10528"/>
            <a:ext cx="10972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A8A29E"/>
                </a:solidFill>
                <a:latin typeface="Calibri"/>
                <a:ea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B42318"/>
                </a:solidFill>
                <a:latin typeface="Calibri"/>
                <a:ea typeface="Calibri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Calibri"/>
              </a:rPr>
              <a:t>Рост — не новый ондулин.
Это доля, чек системы и дисциплина канала.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D6D3D1"/>
                </a:solidFill>
                <a:latin typeface="Calibri"/>
                <a:ea typeface="Calibri"/>
              </a:rPr>
              <a:t>Выше рынка на 5–8 п.п. за 12 месяцев — выполнимая ставка.
Возврат к «6+ млрд» — только после стока и согласованной базы плана.
Готов идти в филиалы и к топ-партнёрам. Сначала сверить ваши цифры.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A8A29E"/>
                </a:solidFill>
                <a:latin typeface="Calibri"/>
                <a:ea typeface="Calibri"/>
              </a:rPr>
              <a:t>Олег Сильченко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