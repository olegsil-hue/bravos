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5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К ДИАЛОГУ С ГД И HR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Ондулин: семь точек роста</a:t>
            </a:r>
          </a:p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выручки и доли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D6D3D1"/>
                </a:solidFill>
                <a:latin typeface="Arial"/>
                <a:ea typeface="Arial"/>
                <a:cs typeface="Arial"/>
              </a:rPr>
              <a:t>Как быть выше падающего рынка, не сливая маржу в канал.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D6D3D1"/>
                </a:solidFill>
                <a:latin typeface="Arial"/>
                <a:ea typeface="Arial"/>
                <a:cs typeface="Arial"/>
              </a:rPr>
              <a:t>Гипотезы по открытым данным — на встрече сверить, не защищать.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A8A29E"/>
                </a:solidFill>
                <a:latin typeface="Arial"/>
                <a:ea typeface="Arial"/>
                <a:cs typeface="Arial"/>
              </a:rPr>
              <a:t>Олег Сильченко  ·  директор по продажам  ·  сентябрь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ИСХОДНАЯ ТОЧКА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Компания уже ниже рынка — не «падает вместе с ним»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7889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5,48 млрд 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выручка торговой, 2025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−14%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188720"/>
            <a:ext cx="27889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2801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4,02 млрд 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783080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завод Ондулин-С.М.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−16%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188720"/>
            <a:ext cx="27889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2801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−5…−8,5%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83080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рынок стройки / кровли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бенчмарк вакансии −5%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188720"/>
            <a:ext cx="27889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12801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6,34 млрд 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1783080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пик 2024, «оборот 6+»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план, не факт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926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Скатная кровля 2024: 261 млн м². ИЖС даёт ~89% спроса.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383280"/>
            <a:ext cx="7470648" cy="347472"/>
          </a:xfrm>
          <a:prstGeom prst="rect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7848" y="3383280"/>
            <a:ext cx="1892807" cy="347472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20656" y="3383280"/>
            <a:ext cx="896112" cy="347472"/>
          </a:xfrm>
          <a:prstGeom prst="rect">
            <a:avLst/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16768" y="3383280"/>
            <a:ext cx="896112" cy="347472"/>
          </a:xfrm>
          <a:prstGeom prst="rect">
            <a:avLst/>
          </a:prstGeom>
          <a:solidFill>
            <a:srgbClr val="787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383280"/>
            <a:ext cx="7470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Металл 67%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7848" y="3383280"/>
            <a:ext cx="18928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Гибкая 17%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0656" y="3383280"/>
            <a:ext cx="896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БВЛ 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16768" y="3383280"/>
            <a:ext cx="896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Шифер 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2194560"/>
          </a:xfrm>
          <a:prstGeom prst="rect">
            <a:avLst/>
          </a:prstGeom>
          <a:solidFill>
            <a:srgbClr val="F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14800"/>
            <a:ext cx="10881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Вывод. В еврошифере ~99% производства уже ваши — доля внутри ниши не растёт.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Конкурент не «другой ондулин», а металл, гибкая черепица и ремонт шифера.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Задача года: быть выше рынка на 5–8 п.п. и закрыть разрыв 2025-го без отгрузки в полный склад.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КАРТА РОСТА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Семь точек. Не новый продукт — управление каналом и чеком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47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6128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12471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Sell-out вместо sell-in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161288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Сток топ-20. Не грузить полный склад после всплеска 2024.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37360"/>
            <a:ext cx="11247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4708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81051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JBP с топ-20 дистрибьюторов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847088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20 имён ≈ 60–70% денег. Взаимная выгода, не скидка.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23160"/>
            <a:ext cx="11247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3288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49631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Микс и система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532888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Смарт → Черепица / Ондувилла + конёк, гвозди, лента.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108960"/>
            <a:ext cx="11247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21868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8211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ONDUTISS в каждый заказ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218688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Единственный фронт, где долю можно отнять.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94760"/>
            <a:ext cx="11247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90448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86791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Замена шифера и хозблок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904488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Доля скатной кровли 8% → 8,3–8,6%.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480560"/>
            <a:ext cx="11247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028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55371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DIY как доля в сети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4590288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Лемана ПРО, Петрович, Максидом. Полка комплекта.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166360"/>
            <a:ext cx="11247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27608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23951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E-com в правилах канала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5276088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Сначала MAP, потом GMV. Лид дилеру, не обход.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ТОЧКИ 01–02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Дистрибьюторы: главный P&amp;L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~100 ключевых, пул ~500. Лечить минус рынка скидкой и вагоном — повторить 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12471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09728" cy="987552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190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ABC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91640"/>
            <a:ext cx="8321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Топ-20 вести лично + РСМ. Остальным — стандарт. Спящих из 500 не раздувать.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60320"/>
            <a:ext cx="112471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109728" cy="987552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1635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Sell-out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788920"/>
            <a:ext cx="8321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Дни запаса листа / доборов / плёнки. Где сток выше нормы — помогаем продать, не грузим.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57600"/>
            <a:ext cx="112471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109728" cy="987552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1363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JBP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886200"/>
            <a:ext cx="8321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Квартал: объём, микс, attach, покрытие, обучение продавцов, коридор цены.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54880"/>
            <a:ext cx="112471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754880"/>
            <a:ext cx="109728" cy="987552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1091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Заработок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983480"/>
            <a:ext cx="8321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MAP и территория, приоритет в сезон, комплект на складе. Скидка — последний рычаг.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ТОЧКА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Микс и система: деньги с м², не ещё один лист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27889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2788920" cy="9144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Ондулин Смарт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514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Эконом / замена / хозблок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490–510 ₽/м², Smart Lock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Не единственный ответ на металл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143000"/>
            <a:ext cx="27889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143000"/>
            <a:ext cx="2788920" cy="9144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3716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Черепица Ондулин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57400"/>
            <a:ext cx="2514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Средний сегмент, DIY-формат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Гарантия 20 лет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Ответ «выглядит как черепица»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143000"/>
            <a:ext cx="27889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143000"/>
            <a:ext cx="2788920" cy="9144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3716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Ондувилла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57400"/>
            <a:ext cx="2514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Премиум внутри линейки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Модуль, выше чек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Не конкурировать скидкой Смарта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143000"/>
            <a:ext cx="27889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143000"/>
            <a:ext cx="2788920" cy="9144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13716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Доборы и гвозди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057400"/>
            <a:ext cx="2514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Конёк, ендова, щипец, лента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Маржа партнёра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Attach +2–3 п.п. к счёту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251960"/>
            <a:ext cx="112471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38912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Как делать. Цель микса — в JBP и в KPI РСМ. Не отгружать лист без конька и гвоздей у партнёра.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В DIY — узкий лист + 3–4 добора на полке. «Выцветает» лечится черепицей и комплектом, не скидкой на Смарт.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Эффект: микс 50–80 млн  ·  attach доборов 80–120 млн.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ТОЧКИ 04–05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Где берётся доля: плёнка и чужой м²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56235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04  ONDUTISS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Единственный рынок, где вы не монополист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Изоспан, ТехноНИКОЛЬ, Megaflex — здесь долю отнимают.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1. Каждый заказ кровли видит мембрану и ленту.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2. Белые пятна: каркас, фасад, металл конкурента.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3. SMART / PRO AM — профессиональный ярус.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Эффект: 80–150 млн.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KPI — доля плёнки в кровельном счёте.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43000"/>
            <a:ext cx="5440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05  ШИФЕР И ХОЗБЛОК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4592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Доля скатной кровли 8% → 8,3–8,6%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74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Шифер сжимается ~9,5% CAGR — это 8% рынка, донор.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Комплект «лист + гвозди + лента», без усиления стропил.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Хозблок / дача / гараж: металл шумный, Ондулин лёгкий и DIY.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ИЖС 2025: ввод +2%, новые коттеджи −40%.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Ремонт устойчивее новостроя.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ТОЧКИ 06–07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DIY и e-com: витрина, не война с сотней партнёров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56235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06  DIY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Лемана ПРО · Петрович · Максидом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Цель — доля категории на полке, не «нас возят».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Матрица: Смарт + DIY-черепица + доборы + плёнка.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Обучение зала, наличие комплекта.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Цена сети не самая дешёвая в городе.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Пилот доли внутри одной сети — как 26% в Связном.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Эффект: 40–80 млн + доступность бренда.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143000"/>
            <a:ext cx="5440680" cy="4937760"/>
          </a:xfrm>
          <a:prstGeom prst="rect">
            <a:avLst/>
          </a:prstGeom>
          <a:solidFill>
            <a:srgbClr val="F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07  E-COM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4592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Сначала правила, потом объём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74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Онлайн DIY растёт, офлайн падает.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Без MAP e-com съест топ-100 быстрее, чем даст 100 млн.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Аудит серых карточек Ozon / Wildberries.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Официальная матрица, цена не ниже MAP.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Сайт: комплект «крыша 50 м²» и лид дилеру.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Эффект года 1: 40–80 млн в рамке.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МОСТ К ВЫРУЧКЕ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Три сценария 12 месяцев. База — факт 2025: 5,48 млрд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411480"/>
          </a:xfrm>
          <a:prstGeom prst="rect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155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Сценарий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11556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Выручка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1155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 рынку −5%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11556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Смысл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508760"/>
            <a:ext cx="11247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55448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A  Дисциплина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554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5,37 (−2%)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544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+3 п.п.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55448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Перестали проигрывать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011680"/>
            <a:ext cx="11247120" cy="475488"/>
          </a:xfrm>
          <a:prstGeom prst="roundRect">
            <a:avLst/>
          </a:prstGeom>
          <a:solidFill>
            <a:srgbClr val="FEF3F2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05740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B  Выше рынка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0574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5,48–5,64 (0…+3%)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05740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+5…8 п.п.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05740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Честная цель года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514600"/>
            <a:ext cx="11247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56032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C  План «6+»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6,0–6,15 (+10…12%)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56032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+15…17 п.п.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560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Риск отгрузки в сток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154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Мост к сценарию B, млн ₽ (порядок величин, не бюджет)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66160"/>
            <a:ext cx="153619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65760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Сток / sell-out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16052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+80…120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75688" y="3566160"/>
            <a:ext cx="153619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21408" y="365760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Микс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21408" y="416052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+50…80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94176" y="3566160"/>
            <a:ext cx="153619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39896" y="365760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Доборы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39896" y="416052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+80…120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12664" y="3566160"/>
            <a:ext cx="153619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58384" y="365760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ONDUTISS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58384" y="416052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+80…150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31152" y="3566160"/>
            <a:ext cx="153619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76872" y="365760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Покрытие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76872" y="416052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+50…100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49640" y="3566160"/>
            <a:ext cx="153619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5360" y="365760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DIY / e-com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416052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+40…80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68128" y="3566160"/>
            <a:ext cx="153619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13848" y="365760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Минус рынка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3848" y="416052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−270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074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Без ответа на вопрос «план от 5,48 или от 6,34?» обещать C нельзя.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Если база 2024 — это обгон рынка на ~15 п.п. Так можно только при пустом канале.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КАК ЭТО ДЕЛАЕТСЯ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План, команда, 90 / 180 / 365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3657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3657600" cy="9144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3 месяца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Перенять, не ломать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3291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Все РО + завод. Ride-along с 7 РСМ. ABC-100. Сток топ-20. Правила каналов. Пилот JBP на 5–7. Людей не трогать.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097280"/>
            <a:ext cx="3657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097280"/>
            <a:ext cx="3657600" cy="9144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325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6 месяцев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Система и люди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194560"/>
            <a:ext cx="3291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Оценка 7 РСМ, планы развития. KPI: не только отгрузка — микс, attach, покрытие, цена. JBP на топ-20.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097280"/>
            <a:ext cx="3657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097280"/>
            <a:ext cx="3657600" cy="9144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325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12 месяцев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7373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Результат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94560"/>
            <a:ext cx="3291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Сценарий B как база. Сам в полях в сезон. Честный прогноз ГД за квартал до конца года. Без сюрприза в декабре.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17720"/>
            <a:ext cx="11247120" cy="1554480"/>
          </a:xfrm>
          <a:prstGeom prst="rect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Система без ручного режима: план продукт × канал × регион × месяц · правила каналов · JBP топ-20 · стандарт визита и стока · недельный ритм с заводом и финансами · премия, которая не платит за завал склада партнёра.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ЧТО СВЕРИТЬ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Восемь вопросов, без которых цифры — пожелание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562356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9844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План 2026 от какой базы — 5,48 или 6,34?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097280"/>
            <a:ext cx="562356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5331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29844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Победа года лично для вас: объём, маржа, доля, команда, завод?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40280"/>
            <a:ext cx="562356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9631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44144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Где утечка 2025: сток, цена, микс, DIY-конфликт, поле?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62356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49631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44144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Сколько партнёров дают 50%? Grand Line / ТСТН / «Твой Мир» — какой вес?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83280"/>
            <a:ext cx="562356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63931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58444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Сток топ-20 в днях. Есть ли sell-out или живём по отгрузке?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383280"/>
            <a:ext cx="562356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63931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58444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Правила маркетплейса уже есть? Кто продаёт на Ozon / Wildberries?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26280"/>
            <a:ext cx="562356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78231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72744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DIY и РСМ в одном городе — кто решает спор по цене?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4526280"/>
            <a:ext cx="562356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78231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72744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  <a:ea typeface="Arial"/>
                <a:cs typeface="Arial"/>
              </a:rPr>
              <a:t>Формула мотивации поля. Когда меняли. Что нельзя трогать 90 дней?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КАК Я ЭТО ВЕДУ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Четыре правила, чтобы рост не съел маржу и партнёров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471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09728" cy="102412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0700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Доля — в скатной кровле, не в БВЛ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99% еврошифера не KPI. KPI: доля 8%+, деньги с м², доля плёнки в счёте.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40280"/>
            <a:ext cx="112471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09728" cy="102412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5000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Партнёр зарабатывает — тогда остаётся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Защита цены и территории важнее акции. Скидка — последний рычаг.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383280"/>
            <a:ext cx="112471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09728" cy="102412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9300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E-com не обгоняет правила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862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MAP и лид дилеру. GMV без рамки — минус доверия топ-100.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526280"/>
            <a:ext cx="112471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26280"/>
            <a:ext cx="109728" cy="102412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3600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C1917"/>
                </a:solidFill>
                <a:latin typeface="Arial"/>
                <a:ea typeface="Arial"/>
                <a:cs typeface="Arial"/>
              </a:rPr>
              <a:t>План живёт на территории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0292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7534E"/>
                </a:solidFill>
                <a:latin typeface="Arial"/>
                <a:ea typeface="Arial"/>
                <a:cs typeface="Arial"/>
              </a:rPr>
              <a:t>Не раскладывается до РСМ и топ-дистрибьютора — это пожелание. 90 дней сезон не ломаем.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5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ИТОГ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Рост — не новый ондулин.</a:t>
            </a:r>
          </a:p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Это доля, чек системы и дисциплина канала.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D6D3D1"/>
                </a:solidFill>
                <a:latin typeface="Arial"/>
                <a:ea typeface="Arial"/>
                <a:cs typeface="Arial"/>
              </a:rPr>
              <a:t>Выше рынка на 5–8 п.п. за 12 месяцев — выполнимая ставка.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D6D3D1"/>
                </a:solidFill>
                <a:latin typeface="Arial"/>
                <a:ea typeface="Arial"/>
                <a:cs typeface="Arial"/>
              </a:rPr>
              <a:t>Возврат к «6+ млрд» — только после стока и согласованной базы плана.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D6D3D1"/>
                </a:solidFill>
                <a:latin typeface="Arial"/>
                <a:ea typeface="Arial"/>
                <a:cs typeface="Arial"/>
              </a:rPr>
              <a:t>Готов идти в филиалы и к топ-партнёрам. Сначала сверить ваши цифры.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A8A29E"/>
                </a:solidFill>
                <a:latin typeface="Arial"/>
                <a:ea typeface="Arial"/>
                <a:cs typeface="Arial"/>
              </a:rPr>
              <a:t>Олег Сильченко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